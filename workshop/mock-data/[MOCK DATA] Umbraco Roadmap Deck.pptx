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custDataLst>
    <p:tags r:id="rId9"/>
  </p:custDataLst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7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30000" y="230000"/>
            <a:ext cx="113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2800" b="1" dirty="0">
                <a:solidFill>
                  <a:srgbClr val="17365D"/>
                </a:solidFill>
              </a:rPr>
              <a:t>README - Synthetic internal PM artifact for workshop use</a:t>
            </a:r>
          </a:p>
          <a:p>
            <a:endParaRPr lang="en-US" dirty="0"/>
          </a:p>
        </p:txBody>
      </p:sp>
      <p:sp>
        <p:nvSpPr>
          <p:cNvPr id="3" name="Subtitle"/>
          <p:cNvSpPr txBox="1"/>
          <p:nvPr/>
        </p:nvSpPr>
        <p:spPr>
          <a:xfrm>
            <a:off x="460000" y="860000"/>
            <a:ext cx="106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endParaRPr lang="en-US" dirty="0"/>
          </a:p>
        </p:txBody>
      </p:sp>
      <p:sp>
        <p:nvSpPr>
          <p:cNvPr id="4" name="Body"/>
          <p:cNvSpPr txBox="1"/>
          <p:nvPr/>
        </p:nvSpPr>
        <p:spPr>
          <a:xfrm>
            <a:off x="560000" y="1500000"/>
            <a:ext cx="10900000" cy="42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1450" dirty="0">
                <a:solidFill>
                  <a:srgbClr val="1F2933"/>
                </a:solidFill>
              </a:rPr>
              <a:t>- Purpose: align product priorities across CMS core, Cloud, personalization add-on, Marketplace, and developer experience.</a:t>
            </a:r>
            <a:r>
              <a:rPr lang="en-US" sz="1450" b="1" dirty="0">
                <a:solidFill>
                  <a:srgbClr val="1F2933"/>
                </a:solidFill>
              </a:rPr>
              <a:t/>
            </a:r>
            <a:r>
              <a:rPr lang="en-US" sz="1450" dirty="0">
                <a:solidFill>
                  <a:srgbClr val="1F2933"/>
                </a:solidFill>
              </a:rPr>
              <a:t/>
            </a:r>
            <a:endParaRPr lang="en-US" dirty="0"/>
          </a:p>
          <a:p>
            <a:r>
              <a:rPr lang="en-US" sz="1450" dirty="0">
                <a:solidFill>
                  <a:srgbClr val="1F2933"/>
                </a:solidFill>
              </a:rPr>
              <a:t>- </a:t>
            </a:r>
            <a:r>
              <a:rPr lang="en-US" sz="1450" b="1" dirty="0">
                <a:solidFill>
                  <a:srgbClr val="1F2933"/>
                </a:solidFill>
              </a:rPr>
              <a:t>Caution</a:t>
            </a:r>
            <a:r>
              <a:rPr lang="en-US" sz="1450" dirty="0">
                <a:solidFill>
                  <a:srgbClr val="1F2933"/>
                </a:solidFill>
              </a:rPr>
              <a:t>: this roadmap is intentionally incomplete for the exercise. It reflects current committed/candidate items, not necessarily the best next bet.</a:t>
            </a:r>
            <a:endParaRPr lang="en-US" dirty="0"/>
          </a:p>
          <a:p>
            <a:r>
              <a:rPr lang="en-US" sz="1450" dirty="0">
                <a:solidFill>
                  <a:srgbClr val="1F2933"/>
                </a:solidFill>
              </a:rPr>
              <a:t>- </a:t>
            </a:r>
            <a:r>
              <a:rPr lang="en-US" sz="1450" b="1" dirty="0">
                <a:solidFill>
                  <a:srgbClr val="1F2933"/>
                </a:solidFill>
              </a:rPr>
              <a:t>Decision requested</a:t>
            </a:r>
            <a:r>
              <a:rPr lang="en-US" sz="1450" dirty="0">
                <a:solidFill>
                  <a:srgbClr val="1F2933"/>
                </a:solidFill>
              </a:rPr>
              <a:t>: identify the largest evidence-backed roadmap gap.</a:t>
            </a:r>
            <a:endParaRPr lang="en-US" dirty="0"/>
          </a:p>
        </p:txBody>
      </p:sp>
      <p:sp>
        <p:nvSpPr>
          <p:cNvPr id="5" name="Footer"/>
          <p:cNvSpPr txBox="1"/>
          <p:nvPr/>
        </p:nvSpPr>
        <p:spPr>
          <a:xfrm>
            <a:off x="560000" y="6300000"/>
            <a:ext cx="10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900" dirty="0">
                <a:solidFill>
                  <a:srgbClr val="667085"/>
                </a:solidFill>
              </a:rPr>
              <a:t>Not actual Umbraco roadmap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30000" y="230000"/>
            <a:ext cx="113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2800" b="1" dirty="0">
                <a:solidFill>
                  <a:srgbClr val="17365D"/>
                </a:solidFill>
              </a:rPr>
              <a:t>Q3 2026 Committed: Editor Experience And Accessibility</a:t>
            </a:r>
            <a:endParaRPr lang="en-US" dirty="0"/>
          </a:p>
        </p:txBody>
      </p:sp>
      <p:sp>
        <p:nvSpPr>
          <p:cNvPr id="4" name="Body"/>
          <p:cNvSpPr txBox="1"/>
          <p:nvPr/>
        </p:nvSpPr>
        <p:spPr>
          <a:xfrm>
            <a:off x="560000" y="1500000"/>
            <a:ext cx="10900000" cy="42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1450">
                <a:solidFill>
                  <a:srgbClr val="1F2933"/>
                </a:solidFill>
              </a:rPr>
              <a:t>- Tiptap editor presets, reusable formatting controls, and richer paste cleanup.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Media library keyboard navigation, bulk metadata cleanup, and alt-text reminders.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Approval dashboard filters and notification preferences for reviewers.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Known limitation: does not create a campaign or experiment workspace.</a:t>
            </a:r>
            <a:endParaRPr 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38E35662-0D19-D2DD-A72F-058A2684DD6A}"/>
              </a:ext>
            </a:extLst>
          </p:cNvPr>
          <p:cNvSpPr txBox="1"/>
          <p:nvPr/>
        </p:nvSpPr>
        <p:spPr>
          <a:xfrm>
            <a:off x="560000" y="6300000"/>
            <a:ext cx="10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900" dirty="0">
                <a:solidFill>
                  <a:srgbClr val="667085"/>
                </a:solidFill>
              </a:rPr>
              <a:t>Not actual Umbraco roadmap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30000" y="230000"/>
            <a:ext cx="113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2800" b="1">
                <a:solidFill>
                  <a:srgbClr val="17365D"/>
                </a:solidFill>
              </a:rPr>
              <a:t>Q4 2026 Planned: Cloud, API, And Marketplace</a:t>
            </a:r>
            <a:endParaRPr lang="en-US"/>
          </a:p>
        </p:txBody>
      </p:sp>
      <p:sp>
        <p:nvSpPr>
          <p:cNvPr id="4" name="Body"/>
          <p:cNvSpPr txBox="1"/>
          <p:nvPr/>
        </p:nvSpPr>
        <p:spPr>
          <a:xfrm>
            <a:off x="560000" y="1500000"/>
            <a:ext cx="10900000" cy="42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1450">
                <a:solidFill>
                  <a:srgbClr val="1F2933"/>
                </a:solidFill>
              </a:rPr>
              <a:t>- Cloud deployment log search, environment variable UI, and rollback labels.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Content Delivery API pagination, webhook filters, and preview token hardening.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Marketplace compatibility badges, ratings refresh, and agency package discovery.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Known limitation: headless and cloud items do not solve marketer campaign measurement.</a:t>
            </a:r>
            <a:endParaRPr 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DDA0C907-3C36-5CA3-53BD-B0CE15911BB9}"/>
              </a:ext>
            </a:extLst>
          </p:cNvPr>
          <p:cNvSpPr txBox="1"/>
          <p:nvPr/>
        </p:nvSpPr>
        <p:spPr>
          <a:xfrm>
            <a:off x="560000" y="6300000"/>
            <a:ext cx="10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900" dirty="0">
                <a:solidFill>
                  <a:srgbClr val="667085"/>
                </a:solidFill>
              </a:rPr>
              <a:t>Not actual Umbraco roadmap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30000" y="230000"/>
            <a:ext cx="113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2800" b="1">
                <a:solidFill>
                  <a:srgbClr val="17365D"/>
                </a:solidFill>
              </a:rPr>
              <a:t>Q4 2026 Discovery: Workflow Administration</a:t>
            </a:r>
            <a:endParaRPr lang="en-US"/>
          </a:p>
        </p:txBody>
      </p:sp>
      <p:sp>
        <p:nvSpPr>
          <p:cNvPr id="4" name="Body"/>
          <p:cNvSpPr txBox="1"/>
          <p:nvPr/>
        </p:nvSpPr>
        <p:spPr>
          <a:xfrm>
            <a:off x="560000" y="1500000"/>
            <a:ext cx="10900000" cy="42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1450">
                <a:solidFill>
                  <a:srgbClr val="1F2933"/>
                </a:solidFill>
              </a:rPr>
              <a:t>- Reviewer queues by market, region, and content type.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SLA aging indicators for approvals and escalations.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Exportable approval history for regulated content.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Open question: does approval UX cover segment-level experiment lifecycle?</a:t>
            </a:r>
            <a:endParaRPr 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3FA1A710-415A-9E9B-53DB-ACF5D37C03C9}"/>
              </a:ext>
            </a:extLst>
          </p:cNvPr>
          <p:cNvSpPr txBox="1"/>
          <p:nvPr/>
        </p:nvSpPr>
        <p:spPr>
          <a:xfrm>
            <a:off x="560000" y="6300000"/>
            <a:ext cx="10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900" dirty="0">
                <a:solidFill>
                  <a:srgbClr val="667085"/>
                </a:solidFill>
              </a:rPr>
              <a:t>Not actual Umbraco roadmap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30000" y="230000"/>
            <a:ext cx="113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2800" b="1">
                <a:solidFill>
                  <a:srgbClr val="17365D"/>
                </a:solidFill>
              </a:rPr>
              <a:t>Q1 2027 Candidate: AI Author Assistance</a:t>
            </a:r>
            <a:endParaRPr lang="en-US"/>
          </a:p>
        </p:txBody>
      </p:sp>
      <p:sp>
        <p:nvSpPr>
          <p:cNvPr id="4" name="Body"/>
          <p:cNvSpPr txBox="1"/>
          <p:nvPr/>
        </p:nvSpPr>
        <p:spPr>
          <a:xfrm>
            <a:off x="560000" y="1500000"/>
            <a:ext cx="10900000" cy="42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1450">
                <a:solidFill>
                  <a:srgbClr val="1F2933"/>
                </a:solidFill>
              </a:rPr>
              <a:t>- Draft meta descriptions, article summaries, and social copy snippets.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Brand voice guardrails for editorial copy.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Reusable prompt templates for common page types.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Known limitation: no AI experiment hypothesis backlog, no lift readout, no winner promotion.</a:t>
            </a:r>
            <a:endParaRPr 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139CE3D7-45C3-C352-0000-ED18CD665A3F}"/>
              </a:ext>
            </a:extLst>
          </p:cNvPr>
          <p:cNvSpPr txBox="1"/>
          <p:nvPr/>
        </p:nvSpPr>
        <p:spPr>
          <a:xfrm>
            <a:off x="560000" y="6300000"/>
            <a:ext cx="10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900" dirty="0">
                <a:solidFill>
                  <a:srgbClr val="667085"/>
                </a:solidFill>
              </a:rPr>
              <a:t>Not actual Umbraco roadmap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30000" y="230000"/>
            <a:ext cx="113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2800" b="1">
                <a:solidFill>
                  <a:srgbClr val="17365D"/>
                </a:solidFill>
              </a:rPr>
              <a:t>Q1 2027 Candidate: General Performance Discovery</a:t>
            </a:r>
            <a:endParaRPr lang="en-US"/>
          </a:p>
        </p:txBody>
      </p:sp>
      <p:sp>
        <p:nvSpPr>
          <p:cNvPr id="4" name="Body"/>
          <p:cNvSpPr txBox="1"/>
          <p:nvPr/>
        </p:nvSpPr>
        <p:spPr>
          <a:xfrm>
            <a:off x="560000" y="1500000"/>
            <a:ext cx="10900000" cy="42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1450">
                <a:solidFill>
                  <a:srgbClr val="1F2933"/>
                </a:solidFill>
              </a:rPr>
              <a:t>- Backoffice asset bundling investigation and lazy-load audit.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Block editor telemetry for pages with many blocks and property editors.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Package extension loading diagnostics.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>- Open question: should performance work be prioritized around segment-heavy campaign pages?</a:t>
            </a:r>
            <a:endParaRPr 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FCAD4399-F083-E794-881A-44070D017DC0}"/>
              </a:ext>
            </a:extLst>
          </p:cNvPr>
          <p:cNvSpPr txBox="1"/>
          <p:nvPr/>
        </p:nvSpPr>
        <p:spPr>
          <a:xfrm>
            <a:off x="560000" y="6300000"/>
            <a:ext cx="10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900" dirty="0">
                <a:solidFill>
                  <a:srgbClr val="667085"/>
                </a:solidFill>
              </a:rPr>
              <a:t>Not actual Umbraco roadmap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30000" y="230000"/>
            <a:ext cx="113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2800" b="1">
                <a:solidFill>
                  <a:srgbClr val="17365D"/>
                </a:solidFill>
              </a:rPr>
              <a:t>Not Currently On Roadmap</a:t>
            </a:r>
            <a:endParaRPr lang="en-US"/>
          </a:p>
        </p:txBody>
      </p:sp>
      <p:sp>
        <p:nvSpPr>
          <p:cNvPr id="4" name="Body"/>
          <p:cNvSpPr txBox="1"/>
          <p:nvPr/>
        </p:nvSpPr>
        <p:spPr>
          <a:xfrm>
            <a:off x="560000" y="1500000"/>
            <a:ext cx="10900000" cy="42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1450">
                <a:solidFill>
                  <a:srgbClr val="1F2933"/>
                </a:solidFill>
              </a:rPr>
              <a:t>- No committed or candidate item above covers marketer-facing campaign experimentation or segment lifecycle tooling.</a:t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/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/>
            </a:r>
            <a:endParaRPr lang="en-US"/>
          </a:p>
          <a:p>
            <a:r>
              <a:rPr lang="en-US" sz="1450">
                <a:solidFill>
                  <a:srgbClr val="1F2933"/>
                </a:solidFill>
              </a:rPr>
              <a:t/>
            </a:r>
            <a:endParaRPr 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71E4545C-A1E6-C6F6-D352-7DC4EDC72126}"/>
              </a:ext>
            </a:extLst>
          </p:cNvPr>
          <p:cNvSpPr txBox="1"/>
          <p:nvPr/>
        </p:nvSpPr>
        <p:spPr>
          <a:xfrm>
            <a:off x="560000" y="6300000"/>
            <a:ext cx="10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r>
              <a:rPr lang="en-US" sz="900" dirty="0">
                <a:solidFill>
                  <a:srgbClr val="667085"/>
                </a:solidFill>
              </a:rPr>
              <a:t>Not actual Umbraco roadmap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  <p:tag name="EYLAYOUT" val="n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Microsoft Office PowerPoint</Application>
  <PresentationFormat>Widescreen</PresentationFormat>
  <Paragraphs>41</Paragraphs>
  <Slides>7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Umbraco Fake Roadmap Deck</dc:title>
  <dc:creator>PM Workshop</dc:creator>
  <cp:lastModifiedBy>PM Workshop</cp:lastModifiedBy>
  <cp:revision>1</cp:revision>
  <dcterms:created xsi:type="dcterms:W3CDTF">2026-06-24T00:00:00Z</dcterms:created>
  <dcterms:modified xsi:type="dcterms:W3CDTF">2026-07-06T18:33:26Z</dcterms:modified>
  <dc:description/>
</cp:coreProperties>
</file>